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Old Standard TT"/>
      <p:regular r:id="rId28"/>
      <p:bold r:id="rId29"/>
      <p: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OldStandardTT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ldStandardT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ldStandardT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bd76c5820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bd76c5820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ea5980c1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ea5980c1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ea5980c10_0_3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ea5980c10_0_3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ea5980c10_0_3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ea5980c10_0_3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ea5980c10_0_3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ea5980c10_0_3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f288ca0c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f288ca0c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a5980c10_0_4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ea5980c10_0_4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ea5980c10_0_4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5ea5980c10_0_4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ea5980c10_0_4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ea5980c10_0_4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f010013f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f010013f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22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11" Type="http://schemas.openxmlformats.org/officeDocument/2006/relationships/image" Target="../media/image25.png"/><Relationship Id="rId10" Type="http://schemas.openxmlformats.org/officeDocument/2006/relationships/image" Target="../media/image14.png"/><Relationship Id="rId12" Type="http://schemas.openxmlformats.org/officeDocument/2006/relationships/image" Target="../media/image33.gif"/><Relationship Id="rId9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11" Type="http://schemas.openxmlformats.org/officeDocument/2006/relationships/image" Target="../media/image35.png"/><Relationship Id="rId10" Type="http://schemas.openxmlformats.org/officeDocument/2006/relationships/image" Target="../media/image27.png"/><Relationship Id="rId9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37.gif"/><Relationship Id="rId7" Type="http://schemas.openxmlformats.org/officeDocument/2006/relationships/image" Target="../media/image31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7B6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2013" y="165654"/>
            <a:ext cx="4476776" cy="4476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6628125" y="4235800"/>
            <a:ext cx="1822500" cy="710700"/>
          </a:xfrm>
          <a:prstGeom prst="rect">
            <a:avLst/>
          </a:prstGeom>
          <a:noFill/>
          <a:ln cap="flat" cmpd="sng" w="28575">
            <a:solidFill>
              <a:srgbClr val="E2F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E2FFBC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Mouad sedjari</a:t>
            </a:r>
            <a:endParaRPr sz="1800">
              <a:solidFill>
                <a:srgbClr val="E2FFBC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E2FFBC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Fernando Diaz</a:t>
            </a:r>
            <a:endParaRPr sz="1800">
              <a:solidFill>
                <a:srgbClr val="E2FFBC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567425" y="4235800"/>
            <a:ext cx="1822500" cy="710700"/>
          </a:xfrm>
          <a:prstGeom prst="rect">
            <a:avLst/>
          </a:prstGeom>
          <a:noFill/>
          <a:ln cap="flat" cmpd="sng" w="28575">
            <a:solidFill>
              <a:srgbClr val="E2F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E2FFBC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M12 - 2º DAW</a:t>
            </a:r>
            <a:endParaRPr sz="1800">
              <a:solidFill>
                <a:srgbClr val="E2FFBC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E2FFBC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05/2025</a:t>
            </a:r>
            <a:endParaRPr sz="1800">
              <a:solidFill>
                <a:srgbClr val="E2FFBC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FFB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255400" y="763925"/>
            <a:ext cx="8520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2000">
                <a:solidFill>
                  <a:srgbClr val="2A5215"/>
                </a:solidFill>
              </a:rPr>
              <a:t>INTRODUCCIÓN</a:t>
            </a:r>
            <a:endParaRPr b="1" sz="2000">
              <a:solidFill>
                <a:srgbClr val="2A5215"/>
              </a:solidFill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311700" y="1842025"/>
            <a:ext cx="8520600" cy="27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¿Qué es Patitas Conectadas?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¿Qué necesidad detectamos en el mercado?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¿Qué nos diferencia de otras plataformas?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43" name="Google Shape;143;p14"/>
          <p:cNvCxnSpPr/>
          <p:nvPr/>
        </p:nvCxnSpPr>
        <p:spPr>
          <a:xfrm>
            <a:off x="255400" y="1344650"/>
            <a:ext cx="8520600" cy="0"/>
          </a:xfrm>
          <a:prstGeom prst="straightConnector1">
            <a:avLst/>
          </a:prstGeom>
          <a:noFill/>
          <a:ln cap="flat" cmpd="sng" w="28575">
            <a:solidFill>
              <a:srgbClr val="2A521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4" name="Google Shape;14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951" y="1472075"/>
            <a:ext cx="2996100" cy="3542400"/>
          </a:xfrm>
          <a:prstGeom prst="roundRect">
            <a:avLst>
              <a:gd fmla="val 6392" name="adj"/>
            </a:avLst>
          </a:prstGeom>
          <a:noFill/>
          <a:ln>
            <a:noFill/>
          </a:ln>
        </p:spPr>
      </p:pic>
      <p:grpSp>
        <p:nvGrpSpPr>
          <p:cNvPr id="145" name="Google Shape;145;p14"/>
          <p:cNvGrpSpPr/>
          <p:nvPr/>
        </p:nvGrpSpPr>
        <p:grpSpPr>
          <a:xfrm>
            <a:off x="0" y="8675"/>
            <a:ext cx="9144000" cy="627900"/>
            <a:chOff x="0" y="8675"/>
            <a:chExt cx="9144000" cy="627900"/>
          </a:xfrm>
        </p:grpSpPr>
        <p:sp>
          <p:nvSpPr>
            <p:cNvPr id="146" name="Google Shape;146;p14"/>
            <p:cNvSpPr/>
            <p:nvPr/>
          </p:nvSpPr>
          <p:spPr>
            <a:xfrm>
              <a:off x="0" y="8675"/>
              <a:ext cx="9144000" cy="627900"/>
            </a:xfrm>
            <a:prstGeom prst="rect">
              <a:avLst/>
            </a:prstGeom>
            <a:solidFill>
              <a:srgbClr val="3D7B6F"/>
            </a:solidFill>
            <a:ln cap="flat" cmpd="sng" w="9525">
              <a:solidFill>
                <a:srgbClr val="3D7B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47" name="Google Shape;147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4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FFB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/>
        </p:nvSpPr>
        <p:spPr>
          <a:xfrm>
            <a:off x="255400" y="763925"/>
            <a:ext cx="8520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2000">
                <a:solidFill>
                  <a:srgbClr val="2A5215"/>
                </a:solidFill>
              </a:rPr>
              <a:t>OBJETIVOS</a:t>
            </a:r>
            <a:endParaRPr b="1" sz="2000">
              <a:solidFill>
                <a:srgbClr val="2A521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2000">
              <a:solidFill>
                <a:srgbClr val="2A5215"/>
              </a:solidFill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311700" y="1702775"/>
            <a:ext cx="6722100" cy="3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</a:rPr>
              <a:t>Plataforma digital especializada para conectar dueños de mascotas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</a:rPr>
              <a:t>👥🐾Perfiles de usuario y mascotas                           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</a:rPr>
              <a:t>✉️Mensajería privada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</a:rPr>
              <a:t>📝Publicaciones + Comentarios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</a:rPr>
              <a:t>📅Eventos y grupos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chemeClr val="dk1"/>
                </a:solidFill>
              </a:rPr>
              <a:t>⭐ Sistema de valoraciones</a:t>
            </a:r>
            <a:endParaRPr sz="2300">
              <a:solidFill>
                <a:srgbClr val="2A5215"/>
              </a:solidFill>
            </a:endParaRPr>
          </a:p>
        </p:txBody>
      </p:sp>
      <p:cxnSp>
        <p:nvCxnSpPr>
          <p:cNvPr id="155" name="Google Shape;155;p15"/>
          <p:cNvCxnSpPr/>
          <p:nvPr/>
        </p:nvCxnSpPr>
        <p:spPr>
          <a:xfrm>
            <a:off x="255400" y="1344650"/>
            <a:ext cx="8520600" cy="0"/>
          </a:xfrm>
          <a:prstGeom prst="straightConnector1">
            <a:avLst/>
          </a:prstGeom>
          <a:noFill/>
          <a:ln cap="flat" cmpd="sng" w="28575">
            <a:solidFill>
              <a:srgbClr val="2A521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6" name="Google Shape;15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049" y="1392050"/>
            <a:ext cx="2864725" cy="3680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15"/>
          <p:cNvGrpSpPr/>
          <p:nvPr/>
        </p:nvGrpSpPr>
        <p:grpSpPr>
          <a:xfrm>
            <a:off x="0" y="8675"/>
            <a:ext cx="9144000" cy="627900"/>
            <a:chOff x="0" y="8675"/>
            <a:chExt cx="9144000" cy="627900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8675"/>
              <a:ext cx="9144000" cy="627900"/>
            </a:xfrm>
            <a:prstGeom prst="rect">
              <a:avLst/>
            </a:prstGeom>
            <a:solidFill>
              <a:srgbClr val="3D7B6F"/>
            </a:solidFill>
            <a:ln cap="flat" cmpd="sng" w="9525">
              <a:solidFill>
                <a:srgbClr val="3D7B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59" name="Google Shape;159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5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FFB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/>
          <p:nvPr/>
        </p:nvSpPr>
        <p:spPr>
          <a:xfrm>
            <a:off x="3754475" y="1705650"/>
            <a:ext cx="3252300" cy="2895000"/>
          </a:xfrm>
          <a:prstGeom prst="flowChartConnector">
            <a:avLst/>
          </a:prstGeom>
          <a:solidFill>
            <a:srgbClr val="FFFFFF"/>
          </a:solidFill>
          <a:ln cap="flat" cmpd="sng" w="28575">
            <a:solidFill>
              <a:srgbClr val="3D7B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255400" y="763925"/>
            <a:ext cx="8520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2000">
                <a:solidFill>
                  <a:srgbClr val="2A5215"/>
                </a:solidFill>
              </a:rPr>
              <a:t>ARQUITECTURA DEL SISTEMA</a:t>
            </a:r>
            <a:endParaRPr b="1" sz="2000">
              <a:solidFill>
                <a:srgbClr val="2A521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2000">
              <a:solidFill>
                <a:srgbClr val="2A5215"/>
              </a:solidFill>
            </a:endParaRPr>
          </a:p>
        </p:txBody>
      </p:sp>
      <p:cxnSp>
        <p:nvCxnSpPr>
          <p:cNvPr id="167" name="Google Shape;167;p16"/>
          <p:cNvCxnSpPr/>
          <p:nvPr/>
        </p:nvCxnSpPr>
        <p:spPr>
          <a:xfrm>
            <a:off x="255400" y="1344650"/>
            <a:ext cx="8520600" cy="0"/>
          </a:xfrm>
          <a:prstGeom prst="straightConnector1">
            <a:avLst/>
          </a:prstGeom>
          <a:noFill/>
          <a:ln cap="flat" cmpd="sng" w="28575">
            <a:solidFill>
              <a:srgbClr val="2A521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16"/>
          <p:cNvSpPr/>
          <p:nvPr/>
        </p:nvSpPr>
        <p:spPr>
          <a:xfrm>
            <a:off x="255400" y="1894525"/>
            <a:ext cx="2642700" cy="2616900"/>
          </a:xfrm>
          <a:prstGeom prst="flowChartConnector">
            <a:avLst/>
          </a:prstGeom>
          <a:solidFill>
            <a:srgbClr val="FFFFFF"/>
          </a:solidFill>
          <a:ln cap="flat" cmpd="sng" w="28575">
            <a:solidFill>
              <a:srgbClr val="3D7B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6" title="imag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600" y="3273925"/>
            <a:ext cx="1234811" cy="818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6"/>
          <p:cNvCxnSpPr>
            <a:stCxn id="168" idx="6"/>
            <a:endCxn id="171" idx="2"/>
          </p:cNvCxnSpPr>
          <p:nvPr/>
        </p:nvCxnSpPr>
        <p:spPr>
          <a:xfrm>
            <a:off x="2898100" y="3202975"/>
            <a:ext cx="856500" cy="0"/>
          </a:xfrm>
          <a:prstGeom prst="straightConnector1">
            <a:avLst/>
          </a:prstGeom>
          <a:noFill/>
          <a:ln cap="flat" cmpd="sng" w="9525">
            <a:solidFill>
              <a:srgbClr val="3D7B6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2" name="Google Shape;17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573" y="2039850"/>
            <a:ext cx="1677777" cy="95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2596" y="3302416"/>
            <a:ext cx="754418" cy="76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799800" y="1414338"/>
            <a:ext cx="1196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7312300" y="3425851"/>
            <a:ext cx="1463700" cy="1486800"/>
          </a:xfrm>
          <a:prstGeom prst="flowChartConnector">
            <a:avLst/>
          </a:prstGeom>
          <a:solidFill>
            <a:schemeClr val="lt1"/>
          </a:solidFill>
          <a:ln cap="flat" cmpd="sng" w="28575">
            <a:solidFill>
              <a:srgbClr val="3D7B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" name="Google Shape;176;p16"/>
          <p:cNvCxnSpPr>
            <a:stCxn id="165" idx="6"/>
            <a:endCxn id="175" idx="1"/>
          </p:cNvCxnSpPr>
          <p:nvPr/>
        </p:nvCxnSpPr>
        <p:spPr>
          <a:xfrm>
            <a:off x="7006775" y="3153150"/>
            <a:ext cx="519900" cy="490500"/>
          </a:xfrm>
          <a:prstGeom prst="straightConnector1">
            <a:avLst/>
          </a:prstGeom>
          <a:noFill/>
          <a:ln cap="flat" cmpd="sng" w="9525">
            <a:solidFill>
              <a:srgbClr val="3D7B6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7" name="Google Shape;17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9600" y="2269340"/>
            <a:ext cx="1674300" cy="100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68413" y="3693512"/>
            <a:ext cx="951475" cy="95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60575" y="3306076"/>
            <a:ext cx="754425" cy="754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16"/>
          <p:cNvCxnSpPr/>
          <p:nvPr/>
        </p:nvCxnSpPr>
        <p:spPr>
          <a:xfrm>
            <a:off x="2900650" y="3355325"/>
            <a:ext cx="866100" cy="9900"/>
          </a:xfrm>
          <a:prstGeom prst="straightConnector1">
            <a:avLst/>
          </a:prstGeom>
          <a:noFill/>
          <a:ln cap="flat" cmpd="sng" w="9525">
            <a:solidFill>
              <a:srgbClr val="3D7B6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1" name="Google Shape;181;p16"/>
          <p:cNvCxnSpPr/>
          <p:nvPr/>
        </p:nvCxnSpPr>
        <p:spPr>
          <a:xfrm>
            <a:off x="7000750" y="2942050"/>
            <a:ext cx="645300" cy="603300"/>
          </a:xfrm>
          <a:prstGeom prst="straightConnector1">
            <a:avLst/>
          </a:prstGeom>
          <a:noFill/>
          <a:ln cap="flat" cmpd="sng" w="9525">
            <a:solidFill>
              <a:srgbClr val="3D7B6F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182" name="Google Shape;182;p16"/>
          <p:cNvGrpSpPr/>
          <p:nvPr/>
        </p:nvGrpSpPr>
        <p:grpSpPr>
          <a:xfrm>
            <a:off x="0" y="8675"/>
            <a:ext cx="9144000" cy="627900"/>
            <a:chOff x="0" y="8675"/>
            <a:chExt cx="9144000" cy="627900"/>
          </a:xfrm>
        </p:grpSpPr>
        <p:sp>
          <p:nvSpPr>
            <p:cNvPr id="183" name="Google Shape;183;p16"/>
            <p:cNvSpPr/>
            <p:nvPr/>
          </p:nvSpPr>
          <p:spPr>
            <a:xfrm>
              <a:off x="0" y="8675"/>
              <a:ext cx="9144000" cy="627900"/>
            </a:xfrm>
            <a:prstGeom prst="rect">
              <a:avLst/>
            </a:prstGeom>
            <a:solidFill>
              <a:srgbClr val="3D7B6F"/>
            </a:solidFill>
            <a:ln cap="flat" cmpd="sng" w="9525">
              <a:solidFill>
                <a:srgbClr val="3D7B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84" name="Google Shape;184;p1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6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  <p:pic>
        <p:nvPicPr>
          <p:cNvPr id="186" name="Google Shape;186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36173" y="3425850"/>
            <a:ext cx="1027092" cy="62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FFB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/>
        </p:nvSpPr>
        <p:spPr>
          <a:xfrm>
            <a:off x="255400" y="763925"/>
            <a:ext cx="8520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2000">
                <a:solidFill>
                  <a:srgbClr val="2A5215"/>
                </a:solidFill>
              </a:rPr>
              <a:t>COMPONENTES DEL SISTEMA</a:t>
            </a:r>
            <a:endParaRPr b="1" sz="2000">
              <a:solidFill>
                <a:srgbClr val="2A5215"/>
              </a:solidFill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311700" y="1842025"/>
            <a:ext cx="4161600" cy="2473800"/>
          </a:xfrm>
          <a:prstGeom prst="rect">
            <a:avLst/>
          </a:prstGeom>
          <a:solidFill>
            <a:srgbClr val="3D7B6F"/>
          </a:solidFill>
          <a:ln cap="flat" cmpd="sng" w="9525">
            <a:solidFill>
              <a:srgbClr val="3D7B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213">
                <a:solidFill>
                  <a:srgbClr val="E2FFBC"/>
                </a:solidFill>
              </a:rPr>
              <a:t>Frontend:</a:t>
            </a:r>
            <a:r>
              <a:rPr lang="es" sz="3213">
                <a:solidFill>
                  <a:srgbClr val="E2FFBC"/>
                </a:solidFill>
              </a:rPr>
              <a:t> </a:t>
            </a:r>
            <a:endParaRPr sz="3213">
              <a:solidFill>
                <a:srgbClr val="E2FFB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3213">
                <a:solidFill>
                  <a:srgbClr val="E2FFBC"/>
                </a:solidFill>
              </a:rPr>
              <a:t>MVC + componentes</a:t>
            </a:r>
            <a:endParaRPr sz="3213">
              <a:solidFill>
                <a:srgbClr val="E2FFBC"/>
              </a:solidFill>
            </a:endParaRPr>
          </a:p>
          <a:p>
            <a:pPr indent="-31020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2FFBC"/>
              </a:buClr>
              <a:buSzPct val="100000"/>
              <a:buChar char="●"/>
            </a:pPr>
            <a:r>
              <a:rPr lang="es" sz="3213">
                <a:solidFill>
                  <a:srgbClr val="E2FFBC"/>
                </a:solidFill>
              </a:rPr>
              <a:t>Login, registro </a:t>
            </a:r>
            <a:endParaRPr sz="3213">
              <a:solidFill>
                <a:srgbClr val="E2FFBC"/>
              </a:solidFill>
            </a:endParaRPr>
          </a:p>
          <a:p>
            <a:pPr indent="-3102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ct val="100000"/>
              <a:buChar char="●"/>
            </a:pPr>
            <a:r>
              <a:rPr lang="es" sz="3213">
                <a:solidFill>
                  <a:srgbClr val="E2FFBC"/>
                </a:solidFill>
              </a:rPr>
              <a:t>Perfiles</a:t>
            </a:r>
            <a:endParaRPr sz="3213">
              <a:solidFill>
                <a:srgbClr val="E2FFBC"/>
              </a:solidFill>
            </a:endParaRPr>
          </a:p>
          <a:p>
            <a:pPr indent="-3102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ct val="100000"/>
              <a:buChar char="●"/>
            </a:pPr>
            <a:r>
              <a:rPr lang="es" sz="3213">
                <a:solidFill>
                  <a:srgbClr val="E2FFBC"/>
                </a:solidFill>
              </a:rPr>
              <a:t>Navegación</a:t>
            </a:r>
            <a:endParaRPr sz="3213">
              <a:solidFill>
                <a:srgbClr val="E2FFBC"/>
              </a:solidFill>
            </a:endParaRPr>
          </a:p>
          <a:p>
            <a:pPr indent="-3102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ct val="100000"/>
              <a:buChar char="●"/>
            </a:pPr>
            <a:r>
              <a:rPr lang="es" sz="3213">
                <a:solidFill>
                  <a:srgbClr val="E2FFBC"/>
                </a:solidFill>
              </a:rPr>
              <a:t>Posts </a:t>
            </a:r>
            <a:endParaRPr sz="3213">
              <a:solidFill>
                <a:srgbClr val="E2FFBC"/>
              </a:solidFill>
            </a:endParaRPr>
          </a:p>
          <a:p>
            <a:pPr indent="-3102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ct val="100000"/>
              <a:buChar char="●"/>
            </a:pPr>
            <a:r>
              <a:rPr lang="es" sz="3213">
                <a:solidFill>
                  <a:srgbClr val="E2FFBC"/>
                </a:solidFill>
              </a:rPr>
              <a:t>Chat</a:t>
            </a:r>
            <a:endParaRPr sz="3213">
              <a:solidFill>
                <a:srgbClr val="E2FFBC"/>
              </a:solidFill>
            </a:endParaRPr>
          </a:p>
          <a:p>
            <a:pPr indent="-3102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ct val="100000"/>
              <a:buChar char="●"/>
            </a:pPr>
            <a:r>
              <a:rPr lang="es" sz="3213">
                <a:solidFill>
                  <a:srgbClr val="E2FFBC"/>
                </a:solidFill>
              </a:rPr>
              <a:t>Eventos </a:t>
            </a:r>
            <a:endParaRPr sz="3213">
              <a:solidFill>
                <a:srgbClr val="E2FFBC"/>
              </a:solidFill>
            </a:endParaRPr>
          </a:p>
          <a:p>
            <a:pPr indent="-3102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ct val="100000"/>
              <a:buChar char="●"/>
            </a:pPr>
            <a:r>
              <a:rPr lang="es" sz="3213">
                <a:solidFill>
                  <a:srgbClr val="E2FFBC"/>
                </a:solidFill>
              </a:rPr>
              <a:t>Grupos</a:t>
            </a:r>
            <a:endParaRPr sz="3213">
              <a:solidFill>
                <a:srgbClr val="E2FFBC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17"/>
          <p:cNvCxnSpPr/>
          <p:nvPr/>
        </p:nvCxnSpPr>
        <p:spPr>
          <a:xfrm>
            <a:off x="255400" y="1344650"/>
            <a:ext cx="8520600" cy="0"/>
          </a:xfrm>
          <a:prstGeom prst="straightConnector1">
            <a:avLst/>
          </a:prstGeom>
          <a:noFill/>
          <a:ln cap="flat" cmpd="sng" w="28575">
            <a:solidFill>
              <a:srgbClr val="2A521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17"/>
          <p:cNvSpPr txBox="1"/>
          <p:nvPr/>
        </p:nvSpPr>
        <p:spPr>
          <a:xfrm>
            <a:off x="4572000" y="1842025"/>
            <a:ext cx="4161600" cy="2473800"/>
          </a:xfrm>
          <a:prstGeom prst="rect">
            <a:avLst/>
          </a:prstGeom>
          <a:solidFill>
            <a:srgbClr val="2A5215"/>
          </a:solidFill>
          <a:ln cap="flat" cmpd="sng" w="9525">
            <a:solidFill>
              <a:srgbClr val="2A52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E2FFBC"/>
                </a:solidFill>
              </a:rPr>
              <a:t>Backend:</a:t>
            </a:r>
            <a:r>
              <a:rPr lang="es" sz="1500">
                <a:solidFill>
                  <a:srgbClr val="E2FFBC"/>
                </a:solidFill>
              </a:rPr>
              <a:t> MVC </a:t>
            </a:r>
            <a:endParaRPr sz="1500">
              <a:solidFill>
                <a:srgbClr val="E2FFBC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2FFBC"/>
              </a:buClr>
              <a:buSzPts val="1500"/>
              <a:buChar char="●"/>
            </a:pPr>
            <a:r>
              <a:rPr lang="es" sz="1500">
                <a:solidFill>
                  <a:srgbClr val="E2FFBC"/>
                </a:solidFill>
              </a:rPr>
              <a:t>Seguridad con JWT</a:t>
            </a:r>
            <a:endParaRPr sz="1500">
              <a:solidFill>
                <a:srgbClr val="E2FFBC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ts val="1500"/>
              <a:buChar char="●"/>
            </a:pPr>
            <a:r>
              <a:rPr lang="es" sz="1500">
                <a:solidFill>
                  <a:srgbClr val="E2FFBC"/>
                </a:solidFill>
              </a:rPr>
              <a:t>Controladores REST </a:t>
            </a:r>
            <a:endParaRPr sz="1500">
              <a:solidFill>
                <a:srgbClr val="E2FFBC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ts val="1500"/>
              <a:buChar char="●"/>
            </a:pPr>
            <a:r>
              <a:rPr lang="es" sz="1500">
                <a:solidFill>
                  <a:srgbClr val="E2FFBC"/>
                </a:solidFill>
              </a:rPr>
              <a:t>Servicios </a:t>
            </a:r>
            <a:endParaRPr sz="1500">
              <a:solidFill>
                <a:srgbClr val="E2FFBC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ts val="1500"/>
              <a:buChar char="●"/>
            </a:pPr>
            <a:r>
              <a:rPr lang="es" sz="1500">
                <a:solidFill>
                  <a:srgbClr val="E2FFBC"/>
                </a:solidFill>
              </a:rPr>
              <a:t>Modelos</a:t>
            </a:r>
            <a:endParaRPr sz="1500">
              <a:solidFill>
                <a:srgbClr val="E2FFBC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ts val="1500"/>
              <a:buChar char="●"/>
            </a:pPr>
            <a:r>
              <a:rPr lang="es" sz="1500">
                <a:solidFill>
                  <a:srgbClr val="E2FFBC"/>
                </a:solidFill>
              </a:rPr>
              <a:t>DTOs </a:t>
            </a:r>
            <a:endParaRPr sz="1500">
              <a:solidFill>
                <a:srgbClr val="E2FFBC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FFBC"/>
              </a:buClr>
              <a:buSzPts val="1500"/>
              <a:buChar char="●"/>
            </a:pPr>
            <a:r>
              <a:rPr lang="es" sz="1500">
                <a:solidFill>
                  <a:srgbClr val="E2FFBC"/>
                </a:solidFill>
              </a:rPr>
              <a:t>CORS</a:t>
            </a:r>
            <a:endParaRPr sz="1600">
              <a:solidFill>
                <a:srgbClr val="E2FFB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5" name="Google Shape;195;p17"/>
          <p:cNvGrpSpPr/>
          <p:nvPr/>
        </p:nvGrpSpPr>
        <p:grpSpPr>
          <a:xfrm>
            <a:off x="0" y="8675"/>
            <a:ext cx="9144000" cy="627900"/>
            <a:chOff x="0" y="8675"/>
            <a:chExt cx="9144000" cy="627900"/>
          </a:xfrm>
        </p:grpSpPr>
        <p:sp>
          <p:nvSpPr>
            <p:cNvPr id="196" name="Google Shape;196;p17"/>
            <p:cNvSpPr/>
            <p:nvPr/>
          </p:nvSpPr>
          <p:spPr>
            <a:xfrm>
              <a:off x="0" y="8675"/>
              <a:ext cx="9144000" cy="627900"/>
            </a:xfrm>
            <a:prstGeom prst="rect">
              <a:avLst/>
            </a:prstGeom>
            <a:solidFill>
              <a:srgbClr val="3D7B6F"/>
            </a:solidFill>
            <a:ln cap="flat" cmpd="sng" w="9525">
              <a:solidFill>
                <a:srgbClr val="3D7B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97" name="Google Shape;19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17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  <p:pic>
        <p:nvPicPr>
          <p:cNvPr id="199" name="Google Shape;199;p17" title="Captura desde 2025-05-30 15-33-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3082" y="1389750"/>
            <a:ext cx="1463168" cy="370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title="Captura desde 2025-05-30 15-32-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7295" y="1389750"/>
            <a:ext cx="1433100" cy="370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FFB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4313800" y="1771175"/>
            <a:ext cx="1138500" cy="129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06" name="Google Shape;206;p18"/>
          <p:cNvGrpSpPr/>
          <p:nvPr/>
        </p:nvGrpSpPr>
        <p:grpSpPr>
          <a:xfrm>
            <a:off x="102277" y="129274"/>
            <a:ext cx="2095773" cy="411325"/>
            <a:chOff x="102277" y="129274"/>
            <a:chExt cx="2095773" cy="411325"/>
          </a:xfrm>
        </p:grpSpPr>
        <p:pic>
          <p:nvPicPr>
            <p:cNvPr id="207" name="Google Shape;207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18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  <p:grpSp>
        <p:nvGrpSpPr>
          <p:cNvPr id="209" name="Google Shape;209;p18"/>
          <p:cNvGrpSpPr/>
          <p:nvPr/>
        </p:nvGrpSpPr>
        <p:grpSpPr>
          <a:xfrm>
            <a:off x="0" y="8675"/>
            <a:ext cx="9144000" cy="627900"/>
            <a:chOff x="0" y="8675"/>
            <a:chExt cx="9144000" cy="627900"/>
          </a:xfrm>
        </p:grpSpPr>
        <p:sp>
          <p:nvSpPr>
            <p:cNvPr id="210" name="Google Shape;210;p18"/>
            <p:cNvSpPr/>
            <p:nvPr/>
          </p:nvSpPr>
          <p:spPr>
            <a:xfrm>
              <a:off x="0" y="8675"/>
              <a:ext cx="9144000" cy="627900"/>
            </a:xfrm>
            <a:prstGeom prst="rect">
              <a:avLst/>
            </a:prstGeom>
            <a:solidFill>
              <a:srgbClr val="3D7B6F"/>
            </a:solidFill>
            <a:ln cap="flat" cmpd="sng" w="9525">
              <a:solidFill>
                <a:srgbClr val="3D7B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11" name="Google Shape;21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18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  <p:sp>
        <p:nvSpPr>
          <p:cNvPr id="213" name="Google Shape;213;p18"/>
          <p:cNvSpPr txBox="1"/>
          <p:nvPr/>
        </p:nvSpPr>
        <p:spPr>
          <a:xfrm>
            <a:off x="255400" y="763925"/>
            <a:ext cx="8520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2000">
                <a:solidFill>
                  <a:srgbClr val="2A5215"/>
                </a:solidFill>
              </a:rPr>
              <a:t>PUBLICAR UN POST</a:t>
            </a:r>
            <a:endParaRPr b="1" sz="2000">
              <a:solidFill>
                <a:srgbClr val="2A5215"/>
              </a:solidFill>
            </a:endParaRPr>
          </a:p>
        </p:txBody>
      </p:sp>
      <p:pic>
        <p:nvPicPr>
          <p:cNvPr id="214" name="Google Shape;2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9070" y="2977625"/>
            <a:ext cx="1083438" cy="61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18"/>
          <p:cNvGrpSpPr/>
          <p:nvPr/>
        </p:nvGrpSpPr>
        <p:grpSpPr>
          <a:xfrm>
            <a:off x="4440588" y="2147450"/>
            <a:ext cx="838499" cy="805663"/>
            <a:chOff x="4304638" y="2839150"/>
            <a:chExt cx="838499" cy="805663"/>
          </a:xfrm>
        </p:grpSpPr>
        <p:pic>
          <p:nvPicPr>
            <p:cNvPr id="216" name="Google Shape;216;p18" title="JSON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04638" y="3110088"/>
              <a:ext cx="534725" cy="534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08412" y="2839150"/>
              <a:ext cx="534725" cy="5347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8" name="Google Shape;218;p18" title="JS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0301" y="3921963"/>
            <a:ext cx="534725" cy="5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title="DTO Response.png"/>
          <p:cNvPicPr preferRelativeResize="0"/>
          <p:nvPr/>
        </p:nvPicPr>
        <p:blipFill rotWithShape="1">
          <a:blip r:embed="rId7">
            <a:alphaModFix/>
          </a:blip>
          <a:srcRect b="0" l="12662" r="24654" t="0"/>
          <a:stretch/>
        </p:blipFill>
        <p:spPr>
          <a:xfrm>
            <a:off x="6273387" y="3875388"/>
            <a:ext cx="457226" cy="62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title="ClaseJava.png"/>
          <p:cNvPicPr preferRelativeResize="0"/>
          <p:nvPr/>
        </p:nvPicPr>
        <p:blipFill rotWithShape="1">
          <a:blip r:embed="rId8">
            <a:alphaModFix/>
          </a:blip>
          <a:srcRect b="0" l="28083" r="28607" t="0"/>
          <a:stretch/>
        </p:blipFill>
        <p:spPr>
          <a:xfrm>
            <a:off x="6942000" y="3883527"/>
            <a:ext cx="457226" cy="6116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18"/>
          <p:cNvGrpSpPr/>
          <p:nvPr/>
        </p:nvGrpSpPr>
        <p:grpSpPr>
          <a:xfrm>
            <a:off x="7896675" y="2251900"/>
            <a:ext cx="944425" cy="1916700"/>
            <a:chOff x="7831575" y="2651825"/>
            <a:chExt cx="944425" cy="1916700"/>
          </a:xfrm>
        </p:grpSpPr>
        <p:sp>
          <p:nvSpPr>
            <p:cNvPr id="222" name="Google Shape;222;p18"/>
            <p:cNvSpPr/>
            <p:nvPr/>
          </p:nvSpPr>
          <p:spPr>
            <a:xfrm>
              <a:off x="7831575" y="2651825"/>
              <a:ext cx="944100" cy="1916700"/>
            </a:xfrm>
            <a:prstGeom prst="roundRect">
              <a:avLst>
                <a:gd fmla="val 16667" name="adj"/>
              </a:avLst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23" name="Google Shape;223;p1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957775" y="3758725"/>
              <a:ext cx="691699" cy="7132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318353" y="3079773"/>
              <a:ext cx="411306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18"/>
            <p:cNvSpPr txBox="1"/>
            <p:nvPr/>
          </p:nvSpPr>
          <p:spPr>
            <a:xfrm>
              <a:off x="7831900" y="2720400"/>
              <a:ext cx="9441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Servidor</a:t>
              </a:r>
              <a:endParaRPr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26" name="Google Shape;226;p18"/>
            <p:cNvPicPr preferRelativeResize="0"/>
            <p:nvPr/>
          </p:nvPicPr>
          <p:blipFill rotWithShape="1">
            <a:blip r:embed="rId10">
              <a:alphaModFix/>
            </a:blip>
            <a:srcRect b="19847" l="16053" r="16127" t="14259"/>
            <a:stretch/>
          </p:blipFill>
          <p:spPr>
            <a:xfrm>
              <a:off x="7957775" y="3079775"/>
              <a:ext cx="646225" cy="627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27" name="Google Shape;227;p18"/>
          <p:cNvCxnSpPr/>
          <p:nvPr/>
        </p:nvCxnSpPr>
        <p:spPr>
          <a:xfrm flipH="1" rot="10800000">
            <a:off x="4080288" y="2661751"/>
            <a:ext cx="391500" cy="14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18"/>
          <p:cNvCxnSpPr/>
          <p:nvPr/>
        </p:nvCxnSpPr>
        <p:spPr>
          <a:xfrm>
            <a:off x="5023450" y="2741925"/>
            <a:ext cx="481800" cy="40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18"/>
          <p:cNvCxnSpPr>
            <a:stCxn id="230" idx="3"/>
            <a:endCxn id="231" idx="1"/>
          </p:cNvCxnSpPr>
          <p:nvPr/>
        </p:nvCxnSpPr>
        <p:spPr>
          <a:xfrm>
            <a:off x="6736700" y="2766881"/>
            <a:ext cx="20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18"/>
          <p:cNvCxnSpPr/>
          <p:nvPr/>
        </p:nvCxnSpPr>
        <p:spPr>
          <a:xfrm>
            <a:off x="7423200" y="3085775"/>
            <a:ext cx="511500" cy="36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18"/>
          <p:cNvCxnSpPr>
            <a:endCxn id="230" idx="1"/>
          </p:cNvCxnSpPr>
          <p:nvPr/>
        </p:nvCxnSpPr>
        <p:spPr>
          <a:xfrm flipH="1" rot="10800000">
            <a:off x="5976600" y="2766881"/>
            <a:ext cx="290700" cy="3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18"/>
          <p:cNvCxnSpPr>
            <a:stCxn id="223" idx="1"/>
            <a:endCxn id="220" idx="3"/>
          </p:cNvCxnSpPr>
          <p:nvPr/>
        </p:nvCxnSpPr>
        <p:spPr>
          <a:xfrm flipH="1">
            <a:off x="7399175" y="3715447"/>
            <a:ext cx="623700" cy="47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0" name="Google Shape;230;p18" title="DTO Request.png"/>
          <p:cNvPicPr preferRelativeResize="0"/>
          <p:nvPr/>
        </p:nvPicPr>
        <p:blipFill rotWithShape="1">
          <a:blip r:embed="rId11">
            <a:alphaModFix/>
          </a:blip>
          <a:srcRect b="0" l="8958" r="26692" t="0"/>
          <a:stretch/>
        </p:blipFill>
        <p:spPr>
          <a:xfrm>
            <a:off x="6267300" y="2462781"/>
            <a:ext cx="469401" cy="6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7004" y="2363018"/>
            <a:ext cx="374700" cy="374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title="ClaseJava.png"/>
          <p:cNvPicPr preferRelativeResize="0"/>
          <p:nvPr/>
        </p:nvPicPr>
        <p:blipFill rotWithShape="1">
          <a:blip r:embed="rId8">
            <a:alphaModFix/>
          </a:blip>
          <a:srcRect b="0" l="28083" r="28607" t="0"/>
          <a:stretch/>
        </p:blipFill>
        <p:spPr>
          <a:xfrm>
            <a:off x="6942000" y="2461064"/>
            <a:ext cx="457226" cy="6116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p18"/>
          <p:cNvCxnSpPr>
            <a:endCxn id="226" idx="1"/>
          </p:cNvCxnSpPr>
          <p:nvPr/>
        </p:nvCxnSpPr>
        <p:spPr>
          <a:xfrm>
            <a:off x="7551575" y="2581900"/>
            <a:ext cx="471300" cy="41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18"/>
          <p:cNvCxnSpPr>
            <a:stCxn id="220" idx="1"/>
            <a:endCxn id="219" idx="3"/>
          </p:cNvCxnSpPr>
          <p:nvPr/>
        </p:nvCxnSpPr>
        <p:spPr>
          <a:xfrm rot="10800000">
            <a:off x="6730500" y="4189334"/>
            <a:ext cx="211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18"/>
          <p:cNvCxnSpPr/>
          <p:nvPr/>
        </p:nvCxnSpPr>
        <p:spPr>
          <a:xfrm rot="10800000">
            <a:off x="5990575" y="3605200"/>
            <a:ext cx="236100" cy="31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18"/>
          <p:cNvCxnSpPr>
            <a:stCxn id="218" idx="1"/>
          </p:cNvCxnSpPr>
          <p:nvPr/>
        </p:nvCxnSpPr>
        <p:spPr>
          <a:xfrm rot="10800000">
            <a:off x="4123901" y="3883326"/>
            <a:ext cx="746400" cy="30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18"/>
          <p:cNvCxnSpPr/>
          <p:nvPr/>
        </p:nvCxnSpPr>
        <p:spPr>
          <a:xfrm flipH="1">
            <a:off x="5313450" y="3581725"/>
            <a:ext cx="220500" cy="35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18"/>
          <p:cNvSpPr txBox="1"/>
          <p:nvPr/>
        </p:nvSpPr>
        <p:spPr>
          <a:xfrm>
            <a:off x="4265221" y="1790034"/>
            <a:ext cx="157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multipart/form-data</a:t>
            </a:r>
            <a:endParaRPr sz="1000"/>
          </a:p>
        </p:txBody>
      </p:sp>
      <p:pic>
        <p:nvPicPr>
          <p:cNvPr id="242" name="Google Shape;242;p18" title="Scene-1 (1).gif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2275" y="2186375"/>
            <a:ext cx="4506125" cy="238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18"/>
          <p:cNvCxnSpPr/>
          <p:nvPr/>
        </p:nvCxnSpPr>
        <p:spPr>
          <a:xfrm>
            <a:off x="255400" y="1344650"/>
            <a:ext cx="8520600" cy="0"/>
          </a:xfrm>
          <a:prstGeom prst="straightConnector1">
            <a:avLst/>
          </a:prstGeom>
          <a:noFill/>
          <a:ln cap="flat" cmpd="sng" w="28575">
            <a:solidFill>
              <a:srgbClr val="2A521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FFB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/>
        </p:nvSpPr>
        <p:spPr>
          <a:xfrm>
            <a:off x="255400" y="2146800"/>
            <a:ext cx="8577000" cy="2894100"/>
          </a:xfrm>
          <a:prstGeom prst="rect">
            <a:avLst/>
          </a:prstGeom>
          <a:solidFill>
            <a:srgbClr val="3D7B6F"/>
          </a:solidFill>
          <a:ln cap="flat" cmpd="sng" w="9525">
            <a:solidFill>
              <a:srgbClr val="3D7B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13">
              <a:solidFill>
                <a:srgbClr val="E2FFBC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255400" y="763925"/>
            <a:ext cx="8520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2000">
                <a:solidFill>
                  <a:srgbClr val="2A5215"/>
                </a:solidFill>
              </a:rPr>
              <a:t>DEMOSTRACIÓN GUIADA</a:t>
            </a:r>
            <a:endParaRPr b="1" sz="2000">
              <a:solidFill>
                <a:srgbClr val="2A5215"/>
              </a:solidFill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311700" y="1633900"/>
            <a:ext cx="8520600" cy="29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➜  Demo: http://192.168.251.81:5173/</a:t>
            </a:r>
            <a:endParaRPr b="1" sz="1800">
              <a:solidFill>
                <a:schemeClr val="dk1"/>
              </a:solidFill>
            </a:endParaRPr>
          </a:p>
        </p:txBody>
      </p:sp>
      <p:cxnSp>
        <p:nvCxnSpPr>
          <p:cNvPr id="251" name="Google Shape;251;p19"/>
          <p:cNvCxnSpPr/>
          <p:nvPr/>
        </p:nvCxnSpPr>
        <p:spPr>
          <a:xfrm>
            <a:off x="255400" y="1344650"/>
            <a:ext cx="8520600" cy="0"/>
          </a:xfrm>
          <a:prstGeom prst="straightConnector1">
            <a:avLst/>
          </a:prstGeom>
          <a:noFill/>
          <a:ln cap="flat" cmpd="sng" w="28575">
            <a:solidFill>
              <a:srgbClr val="2A521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2" name="Google Shape;252;p19"/>
          <p:cNvGrpSpPr/>
          <p:nvPr/>
        </p:nvGrpSpPr>
        <p:grpSpPr>
          <a:xfrm>
            <a:off x="0" y="8675"/>
            <a:ext cx="9144000" cy="627900"/>
            <a:chOff x="0" y="8675"/>
            <a:chExt cx="9144000" cy="6279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8675"/>
              <a:ext cx="9144000" cy="627900"/>
            </a:xfrm>
            <a:prstGeom prst="rect">
              <a:avLst/>
            </a:prstGeom>
            <a:solidFill>
              <a:srgbClr val="3D7B6F"/>
            </a:solidFill>
            <a:ln cap="flat" cmpd="sng" w="9525">
              <a:solidFill>
                <a:srgbClr val="3D7B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54" name="Google Shape;25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9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  <p:pic>
        <p:nvPicPr>
          <p:cNvPr id="256" name="Google Shape;25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167" y="2282750"/>
            <a:ext cx="1435300" cy="26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3126" y="2285370"/>
            <a:ext cx="1435299" cy="261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5090" y="2283928"/>
            <a:ext cx="1435299" cy="261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9" title="Captura de pantalla 2025-05-30 05492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7570" y="2596458"/>
            <a:ext cx="1983175" cy="199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FFB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/>
          <p:nvPr/>
        </p:nvSpPr>
        <p:spPr>
          <a:xfrm>
            <a:off x="311700" y="1842025"/>
            <a:ext cx="8464200" cy="2862000"/>
          </a:xfrm>
          <a:prstGeom prst="rect">
            <a:avLst/>
          </a:prstGeom>
          <a:solidFill>
            <a:srgbClr val="3D7B6F"/>
          </a:solidFill>
          <a:ln cap="flat" cmpd="sng" w="9525">
            <a:solidFill>
              <a:srgbClr val="3D7B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13">
              <a:solidFill>
                <a:srgbClr val="E2FFBC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255400" y="763925"/>
            <a:ext cx="8520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2000">
                <a:solidFill>
                  <a:srgbClr val="2A5215"/>
                </a:solidFill>
              </a:rPr>
              <a:t>CONCLUSIONES</a:t>
            </a:r>
            <a:endParaRPr b="1" sz="2000">
              <a:solidFill>
                <a:srgbClr val="2A5215"/>
              </a:solidFill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311700" y="1842025"/>
            <a:ext cx="8464200" cy="27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E2FFBC"/>
                </a:solidFill>
              </a:rPr>
              <a:t>✅ </a:t>
            </a:r>
            <a:r>
              <a:rPr b="1" lang="es" sz="1500">
                <a:solidFill>
                  <a:srgbClr val="E2FFBC"/>
                </a:solidFill>
              </a:rPr>
              <a:t>Objetivos Cumplidos</a:t>
            </a:r>
            <a:endParaRPr sz="1500">
              <a:solidFill>
                <a:srgbClr val="E2FFB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E2FFBC"/>
                </a:solidFill>
              </a:rPr>
              <a:t>⚙️ </a:t>
            </a:r>
            <a:r>
              <a:rPr b="1" lang="es" sz="1500">
                <a:solidFill>
                  <a:srgbClr val="E2FFBC"/>
                </a:solidFill>
              </a:rPr>
              <a:t>Metodología Ágil</a:t>
            </a:r>
            <a:endParaRPr b="1" sz="1500">
              <a:solidFill>
                <a:srgbClr val="E2FFB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E2FFBC"/>
                </a:solidFill>
              </a:rPr>
              <a:t>💻 Código Limpio y Escalable</a:t>
            </a:r>
            <a:endParaRPr sz="1500">
              <a:solidFill>
                <a:srgbClr val="E2FFB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E2FFBC"/>
                </a:solidFill>
              </a:rPr>
              <a:t>🗂️ </a:t>
            </a:r>
            <a:r>
              <a:rPr b="1" lang="es" sz="1500">
                <a:solidFill>
                  <a:srgbClr val="E2FFBC"/>
                </a:solidFill>
              </a:rPr>
              <a:t>Control de Versiones</a:t>
            </a:r>
            <a:br>
              <a:rPr b="1" lang="es" sz="1500">
                <a:solidFill>
                  <a:srgbClr val="E2FFBC"/>
                </a:solidFill>
              </a:rPr>
            </a:br>
            <a:endParaRPr b="1" sz="1500">
              <a:solidFill>
                <a:srgbClr val="E2FFBC"/>
              </a:solidFill>
            </a:endParaRPr>
          </a:p>
        </p:txBody>
      </p:sp>
      <p:cxnSp>
        <p:nvCxnSpPr>
          <p:cNvPr id="267" name="Google Shape;267;p20"/>
          <p:cNvCxnSpPr/>
          <p:nvPr/>
        </p:nvCxnSpPr>
        <p:spPr>
          <a:xfrm>
            <a:off x="255400" y="1344650"/>
            <a:ext cx="8520600" cy="0"/>
          </a:xfrm>
          <a:prstGeom prst="straightConnector1">
            <a:avLst/>
          </a:prstGeom>
          <a:noFill/>
          <a:ln cap="flat" cmpd="sng" w="28575">
            <a:solidFill>
              <a:srgbClr val="2A521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8" name="Google Shape;268;p20"/>
          <p:cNvGrpSpPr/>
          <p:nvPr/>
        </p:nvGrpSpPr>
        <p:grpSpPr>
          <a:xfrm>
            <a:off x="0" y="8675"/>
            <a:ext cx="9144000" cy="627900"/>
            <a:chOff x="0" y="8675"/>
            <a:chExt cx="9144000" cy="627900"/>
          </a:xfrm>
        </p:grpSpPr>
        <p:sp>
          <p:nvSpPr>
            <p:cNvPr id="269" name="Google Shape;269;p20"/>
            <p:cNvSpPr/>
            <p:nvPr/>
          </p:nvSpPr>
          <p:spPr>
            <a:xfrm>
              <a:off x="0" y="8675"/>
              <a:ext cx="9144000" cy="627900"/>
            </a:xfrm>
            <a:prstGeom prst="rect">
              <a:avLst/>
            </a:prstGeom>
            <a:solidFill>
              <a:srgbClr val="3D7B6F"/>
            </a:solidFill>
            <a:ln cap="flat" cmpd="sng" w="9525">
              <a:solidFill>
                <a:srgbClr val="3D7B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70" name="Google Shape;27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0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  <p:pic>
        <p:nvPicPr>
          <p:cNvPr id="272" name="Google Shape;27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1975" y="4025587"/>
            <a:ext cx="539377" cy="539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8575" y="4025587"/>
            <a:ext cx="539375" cy="5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8175" y="4025605"/>
            <a:ext cx="539375" cy="53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FFBC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/>
          <p:nvPr/>
        </p:nvSpPr>
        <p:spPr>
          <a:xfrm>
            <a:off x="6064900" y="1472075"/>
            <a:ext cx="2711100" cy="3568800"/>
          </a:xfrm>
          <a:prstGeom prst="rect">
            <a:avLst/>
          </a:prstGeom>
          <a:solidFill>
            <a:srgbClr val="3D7B6F"/>
          </a:solidFill>
          <a:ln cap="flat" cmpd="sng" w="9525">
            <a:solidFill>
              <a:srgbClr val="3D7B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13">
              <a:solidFill>
                <a:srgbClr val="E2FFBC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3192775" y="1472075"/>
            <a:ext cx="2711100" cy="3568800"/>
          </a:xfrm>
          <a:prstGeom prst="rect">
            <a:avLst/>
          </a:prstGeom>
          <a:solidFill>
            <a:srgbClr val="2A5215"/>
          </a:solidFill>
          <a:ln cap="flat" cmpd="sng" w="9525">
            <a:solidFill>
              <a:srgbClr val="2A52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13">
              <a:solidFill>
                <a:srgbClr val="E2FFBC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255400" y="1472075"/>
            <a:ext cx="2711100" cy="3568800"/>
          </a:xfrm>
          <a:prstGeom prst="rect">
            <a:avLst/>
          </a:prstGeom>
          <a:solidFill>
            <a:srgbClr val="3D7B6F"/>
          </a:solidFill>
          <a:ln cap="flat" cmpd="sng" w="9525">
            <a:solidFill>
              <a:srgbClr val="3D7B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13">
              <a:solidFill>
                <a:srgbClr val="E2FFBC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255400" y="763925"/>
            <a:ext cx="8520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2000">
                <a:solidFill>
                  <a:srgbClr val="2A5215"/>
                </a:solidFill>
              </a:rPr>
              <a:t>VISIÓN DE FUTURO</a:t>
            </a:r>
            <a:endParaRPr b="1" sz="2000">
              <a:solidFill>
                <a:srgbClr val="2A5215"/>
              </a:solidFill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>
            <a:off x="255400" y="1344650"/>
            <a:ext cx="8520600" cy="0"/>
          </a:xfrm>
          <a:prstGeom prst="straightConnector1">
            <a:avLst/>
          </a:prstGeom>
          <a:noFill/>
          <a:ln cap="flat" cmpd="sng" w="28575">
            <a:solidFill>
              <a:srgbClr val="2A521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4" name="Google Shape;284;p21"/>
          <p:cNvGrpSpPr/>
          <p:nvPr/>
        </p:nvGrpSpPr>
        <p:grpSpPr>
          <a:xfrm>
            <a:off x="0" y="8675"/>
            <a:ext cx="9144000" cy="627900"/>
            <a:chOff x="0" y="8675"/>
            <a:chExt cx="9144000" cy="627900"/>
          </a:xfrm>
        </p:grpSpPr>
        <p:sp>
          <p:nvSpPr>
            <p:cNvPr id="285" name="Google Shape;285;p21"/>
            <p:cNvSpPr/>
            <p:nvPr/>
          </p:nvSpPr>
          <p:spPr>
            <a:xfrm>
              <a:off x="0" y="8675"/>
              <a:ext cx="9144000" cy="627900"/>
            </a:xfrm>
            <a:prstGeom prst="rect">
              <a:avLst/>
            </a:prstGeom>
            <a:solidFill>
              <a:srgbClr val="3D7B6F"/>
            </a:solidFill>
            <a:ln cap="flat" cmpd="sng" w="9525">
              <a:solidFill>
                <a:srgbClr val="3D7B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86" name="Google Shape;28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1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  <p:sp>
        <p:nvSpPr>
          <p:cNvPr id="288" name="Google Shape;288;p21"/>
          <p:cNvSpPr txBox="1"/>
          <p:nvPr/>
        </p:nvSpPr>
        <p:spPr>
          <a:xfrm>
            <a:off x="3192775" y="1472075"/>
            <a:ext cx="2711100" cy="3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8">
                <a:solidFill>
                  <a:srgbClr val="E2FFBC"/>
                </a:solidFill>
              </a:rPr>
              <a:t>Aplicación móvil                              </a:t>
            </a:r>
            <a:endParaRPr b="1" sz="1308">
              <a:solidFill>
                <a:srgbClr val="E2FFB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6064900" y="1472075"/>
            <a:ext cx="2711100" cy="3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E2FFBC"/>
                </a:solidFill>
              </a:rPr>
              <a:t>     </a:t>
            </a:r>
            <a:r>
              <a:rPr b="1" lang="es" sz="1300">
                <a:solidFill>
                  <a:srgbClr val="E2FFBC"/>
                </a:solidFill>
              </a:rPr>
              <a:t>Integración con veterinarias y ONGs</a:t>
            </a:r>
            <a:endParaRPr b="1" sz="1300">
              <a:solidFill>
                <a:srgbClr val="E2FFBC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255400" y="1472075"/>
            <a:ext cx="27111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E2FFBC"/>
                </a:solidFill>
              </a:rPr>
              <a:t>M</a:t>
            </a:r>
            <a:r>
              <a:rPr b="1" lang="es" sz="1300">
                <a:solidFill>
                  <a:srgbClr val="E2FFBC"/>
                </a:solidFill>
              </a:rPr>
              <a:t>arketplace y sistema de suscripciones.</a:t>
            </a:r>
            <a:endParaRPr b="1" sz="1300">
              <a:solidFill>
                <a:srgbClr val="E2FFBC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1" name="Google Shape;291;p21"/>
          <p:cNvPicPr preferRelativeResize="0"/>
          <p:nvPr/>
        </p:nvPicPr>
        <p:blipFill rotWithShape="1">
          <a:blip r:embed="rId4">
            <a:alphaModFix/>
          </a:blip>
          <a:srcRect b="9784" l="11289" r="11180" t="12684"/>
          <a:stretch/>
        </p:blipFill>
        <p:spPr>
          <a:xfrm>
            <a:off x="6826600" y="2345013"/>
            <a:ext cx="1187700" cy="1187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2" name="Google Shape;29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5775" y="3705763"/>
            <a:ext cx="1119600" cy="1119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3" name="Google Shape;293;p21" title="WhatsApp (3)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1650" y="1808716"/>
            <a:ext cx="1557913" cy="3177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/>
          <p:cNvPicPr preferRelativeResize="0"/>
          <p:nvPr/>
        </p:nvPicPr>
        <p:blipFill rotWithShape="1">
          <a:blip r:embed="rId7">
            <a:alphaModFix/>
          </a:blip>
          <a:srcRect b="21086" l="0" r="0" t="0"/>
          <a:stretch/>
        </p:blipFill>
        <p:spPr>
          <a:xfrm>
            <a:off x="1818575" y="2497100"/>
            <a:ext cx="897526" cy="88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/>
          <p:cNvPicPr preferRelativeResize="0"/>
          <p:nvPr/>
        </p:nvPicPr>
        <p:blipFill rotWithShape="1">
          <a:blip r:embed="rId8">
            <a:alphaModFix/>
          </a:blip>
          <a:srcRect b="0" l="0" r="-13417" t="-13766"/>
          <a:stretch/>
        </p:blipFill>
        <p:spPr>
          <a:xfrm>
            <a:off x="5120725" y="3385601"/>
            <a:ext cx="499476" cy="501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45272" y="2669750"/>
            <a:ext cx="574925" cy="5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/>
          <p:cNvPicPr preferRelativeResize="0"/>
          <p:nvPr/>
        </p:nvPicPr>
        <p:blipFill rotWithShape="1">
          <a:blip r:embed="rId10">
            <a:alphaModFix/>
          </a:blip>
          <a:srcRect b="16923" l="0" r="0" t="0"/>
          <a:stretch/>
        </p:blipFill>
        <p:spPr>
          <a:xfrm>
            <a:off x="404025" y="2420900"/>
            <a:ext cx="1119600" cy="93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title="Logo_La_protectora-e164656193664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826600" y="3628138"/>
            <a:ext cx="1274875" cy="12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FFB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22"/>
          <p:cNvGrpSpPr/>
          <p:nvPr/>
        </p:nvGrpSpPr>
        <p:grpSpPr>
          <a:xfrm>
            <a:off x="102277" y="129274"/>
            <a:ext cx="2095773" cy="411325"/>
            <a:chOff x="102277" y="129274"/>
            <a:chExt cx="2095773" cy="411325"/>
          </a:xfrm>
        </p:grpSpPr>
        <p:pic>
          <p:nvPicPr>
            <p:cNvPr id="304" name="Google Shape;304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22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  <p:grpSp>
        <p:nvGrpSpPr>
          <p:cNvPr id="306" name="Google Shape;306;p22"/>
          <p:cNvGrpSpPr/>
          <p:nvPr/>
        </p:nvGrpSpPr>
        <p:grpSpPr>
          <a:xfrm>
            <a:off x="0" y="8675"/>
            <a:ext cx="9144000" cy="627900"/>
            <a:chOff x="0" y="8675"/>
            <a:chExt cx="9144000" cy="627900"/>
          </a:xfrm>
        </p:grpSpPr>
        <p:sp>
          <p:nvSpPr>
            <p:cNvPr id="307" name="Google Shape;307;p22"/>
            <p:cNvSpPr/>
            <p:nvPr/>
          </p:nvSpPr>
          <p:spPr>
            <a:xfrm>
              <a:off x="0" y="8675"/>
              <a:ext cx="9144000" cy="627900"/>
            </a:xfrm>
            <a:prstGeom prst="rect">
              <a:avLst/>
            </a:prstGeom>
            <a:solidFill>
              <a:srgbClr val="3D7B6F"/>
            </a:solidFill>
            <a:ln cap="flat" cmpd="sng" w="9525">
              <a:solidFill>
                <a:srgbClr val="3D7B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308" name="Google Shape;30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277" y="129274"/>
              <a:ext cx="411275" cy="41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22"/>
            <p:cNvSpPr txBox="1"/>
            <p:nvPr/>
          </p:nvSpPr>
          <p:spPr>
            <a:xfrm>
              <a:off x="513550" y="136115"/>
              <a:ext cx="1684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E2FFBC"/>
                  </a:solidFill>
                </a:rPr>
                <a:t>Patitas Conectadas</a:t>
              </a:r>
              <a:endParaRPr b="1" sz="1200">
                <a:solidFill>
                  <a:srgbClr val="E2FFBC"/>
                </a:solidFill>
              </a:endParaRPr>
            </a:p>
          </p:txBody>
        </p:sp>
      </p:grpSp>
      <p:sp>
        <p:nvSpPr>
          <p:cNvPr id="310" name="Google Shape;310;p22"/>
          <p:cNvSpPr txBox="1"/>
          <p:nvPr/>
        </p:nvSpPr>
        <p:spPr>
          <a:xfrm>
            <a:off x="0" y="718050"/>
            <a:ext cx="9144000" cy="3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Gracias por su atención!</a:t>
            </a:r>
            <a:endParaRPr b="1"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1" name="Google Shape;3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212" y="1448665"/>
            <a:ext cx="5297700" cy="2979900"/>
          </a:xfrm>
          <a:prstGeom prst="roundRect">
            <a:avLst>
              <a:gd fmla="val 5044" name="adj"/>
            </a:avLst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1934300" y="4520700"/>
            <a:ext cx="5286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D7B6F"/>
                </a:solidFill>
                <a:latin typeface="Lato"/>
                <a:ea typeface="Lato"/>
                <a:cs typeface="Lato"/>
                <a:sym typeface="Lato"/>
              </a:rPr>
              <a:t>Hecho con ❤️ para los animales de todo el mundo</a:t>
            </a:r>
            <a:endParaRPr sz="1300">
              <a:solidFill>
                <a:srgbClr val="3D7B6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